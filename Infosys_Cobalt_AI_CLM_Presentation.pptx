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914400" cy="54864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Contract Lifecycle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Improve productivity of document reviews by identifying key elements,</a:t>
            </a:r>
            <a:br/>
            <a:r>
              <a:t>contract draft generation, risk management, and compliance automation.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Calibri"/>
              </a:defRPr>
            </a:pPr>
            <a:r>
              <a:t>Powered by OpenAI GPT-4o  |  Streamlit  |  Cloud-Native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CC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CC3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Feature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CC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Contract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CC3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Clause Categories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Why enterprises need AI-powered contract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Current Pain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02920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⚠️ Manual Review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Contracts take 2-4 weeks for manual review, delaying deals and increasing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502920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⚠️ Hidden Risks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Critical risky clauses and compliance gaps go undetected until disputes arise.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502920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⚠️ Inconsistent Drafts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Each attorney drafts differently, leading to inconsistent terms and missing protections.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66360"/>
            <a:ext cx="502920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⚠️ No Visibility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No centralized view of contract portfolio, expiration dates, or risk exposure.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29200" cy="960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✅ AI Extraction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ClauseScout extracts all key elements in seconds — parties, dates, obligations, penalties.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5029200" cy="960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✅ Risk Scoring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RiskRadar scores every contract 0-100 with detailed clause-level risk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5029200" cy="960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✅ Smart Drafting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DraftCraft generates legally sound contracts from templates + clause library.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166360"/>
            <a:ext cx="5029200" cy="960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✅ Full Visibility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Real-time dashboard with KPIs, expiration alerts, audit trail, and email notifications.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 Intelligent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Purpose-built agents powered by OpenAI GPT-4o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974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697480" cy="822960"/>
          </a:xfrm>
          <a:prstGeom prst="round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ClauseScout</a:t>
            </a:r>
          </a:p>
          <a:p>
            <a:pPr>
              <a:defRPr sz="1000">
                <a:solidFill>
                  <a:srgbClr val="BFDBFE"/>
                </a:solidFill>
                <a:latin typeface="Calibri"/>
              </a:defRPr>
            </a:pPr>
            <a:r>
              <a:t>Contract Element Extractor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Scans uploaded contracts (PDF, DOCX, scanned images via OCR) and extracts every key element — parties, dates, obligations, penalties, payment terms, governing law, IP rights, and more. Generates structured JSON output for downstream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PDF / DOCX / TXT parsing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Tesseract OCR for scanned docs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Structured JSON extraction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Quick summary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974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188720"/>
            <a:ext cx="2697480" cy="8229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✍️ DraftCraft</a:t>
            </a:r>
          </a:p>
          <a:p>
            <a:pPr>
              <a:defRPr sz="1000">
                <a:solidFill>
                  <a:srgbClr val="BFDBFE"/>
                </a:solidFill>
                <a:latin typeface="Calibri"/>
              </a:defRPr>
            </a:pPr>
            <a:r>
              <a:t>Contract Draft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Generates professionally structured, legally sound contract documents from 6 built-in templates with AI-powered customization. Supports iterative refinement and clause library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6 templates (NDA, MSA, SOW, etc.)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Custom clause insertion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Iterative AI refinement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Export to PDF / DOCX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6974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697480" cy="822960"/>
          </a:xfrm>
          <a:prstGeom prst="round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🛡️ RiskRadar</a:t>
            </a:r>
          </a:p>
          <a:p>
            <a:pPr>
              <a:defRPr sz="1000">
                <a:solidFill>
                  <a:srgbClr val="BFDBFE"/>
                </a:solidFill>
                <a:latin typeface="Calibri"/>
              </a:defRPr>
            </a:pPr>
            <a:r>
              <a:t>Risk Analysis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Evaluates contracts for risky clauses, compliance issues, and missing protections. Scores contracts 0-100 and provides actionable negotiation recommendations.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0-100 risk scoring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Clause-level risk breakdown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Compliance checks (GDPR, CCPA)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Negotiation recommendations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188720"/>
            <a:ext cx="26974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1188720"/>
            <a:ext cx="2697480" cy="8229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⚖️ DiffLens</a:t>
            </a:r>
          </a:p>
          <a:p>
            <a:pPr>
              <a:defRPr sz="1000">
                <a:solidFill>
                  <a:srgbClr val="BFDBFE"/>
                </a:solidFill>
                <a:latin typeface="Calibri"/>
              </a:defRPr>
            </a:pPr>
            <a:r>
              <a:t>Contract Comparison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488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Performs side-by-side AI analysis of two contracts, identifying key differences, added/removed/modified clauses, and recommending which terms are more favorable.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8404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Side-by-side comparison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Structural text diff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AI-powered analysis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Favorability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Cloud-native, containerized, enterprise-ready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118872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CC3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Streamlit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Responsive UI with Infosys Cobalt branding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Role-based access (Admin / Analyst / Viewer)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74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Interactive dashboards with Plotly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874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Multi-format export (PDF, DOCX, Excel)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06039"/>
            <a:ext cx="112471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39"/>
            <a:ext cx="109728" cy="11887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79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2D8E"/>
                </a:solidFill>
                <a:latin typeface="Calibri"/>
              </a:defRPr>
            </a:pPr>
            <a:r>
              <a:t>AI / Intelligence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5351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OpenAI GPT-4o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974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4 specialized 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6974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Structured JSON extraction with response_format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2003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Iterative refinement with conversation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003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OCR pipeline (Tesseract + pdf2image)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12471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109728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05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Business Logic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79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 / 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Contract lifecycle state machine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Clause library with usage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Email alert engine (SMTP/TLS)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Comprehensive audit trail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57800"/>
            <a:ext cx="112471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10972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30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Data &amp; Storage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052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SQLite + File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349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SQLite with WAL mode for concurrent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349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5 tables: contracts, drafts, risk_analyses, clauses, 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852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File uploads with OCR-enabled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852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 bcrypt-hashed authentication credentials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Upload &amp; Review with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ClauseScout Agent — intelligent document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20240" y="1481328"/>
            <a:ext cx="54864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CC3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PDF, DOCX, TXT, or</a:t>
            </a:r>
            <a:br/>
            <a:r>
              <a:t>scanned image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371600"/>
            <a:ext cx="548640" cy="548640"/>
          </a:xfrm>
          <a:prstGeom prst="ellipse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1481328"/>
            <a:ext cx="54864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CC3"/>
                </a:solidFill>
                <a:latin typeface="Calibri"/>
              </a:defRPr>
            </a:pPr>
            <a:r>
              <a:t>Smart 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Standard text extraction</a:t>
            </a:r>
            <a:br/>
            <a:r>
              <a:t>with OCR fallback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1481328"/>
            <a:ext cx="54864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CC3"/>
                </a:solidFill>
                <a:latin typeface="Calibri"/>
              </a:defRPr>
            </a:pPr>
            <a:r>
              <a:t>AI 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GPT-4o identifies all</a:t>
            </a:r>
            <a:br/>
            <a:r>
              <a:t>key contract elements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0" y="1371600"/>
            <a:ext cx="548640" cy="548640"/>
          </a:xfrm>
          <a:prstGeom prst="ellipse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78240" y="1481328"/>
            <a:ext cx="54864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CC3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Structured display of</a:t>
            </a:r>
            <a:br/>
            <a:r>
              <a:t>parties, dates, terms</a:t>
            </a:r>
          </a:p>
        </p:txBody>
      </p:sp>
      <p:sp>
        <p:nvSpPr>
          <p:cNvPr id="22" name="Oval 21"/>
          <p:cNvSpPr/>
          <p:nvPr/>
        </p:nvSpPr>
        <p:spPr>
          <a:xfrm>
            <a:off x="10241280" y="1371600"/>
            <a:ext cx="548640" cy="548640"/>
          </a:xfrm>
          <a:prstGeom prst="ellipse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CC3"/>
                </a:solidFill>
                <a:latin typeface="Calibri"/>
              </a:defRPr>
            </a:pPr>
            <a:r>
              <a:t>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331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Store to repository</a:t>
            </a:r>
            <a:br/>
            <a:r>
              <a:t>with metadata &amp; 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Extracted Key Elements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Parties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Names, roles (buyer/seller/landlord)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65760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Dates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Effective, expiration, renewal terms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65760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Obligations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Per-party contractual duties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3484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Penalties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Breach penalties, liquidated damages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43484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Payment Terms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Amounts, schedules, currency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43484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Governing Law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Jurisdiction, dispute resolution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21208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IP Rights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Ownership, licenses, assignments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521208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Confidentiality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NDA terms, exclusions, duration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521208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Force Majeure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Excusable events, notice periods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989320"/>
            <a:ext cx="3566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Termination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Notice periods, cure rights, severance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RiskRadar Agent — comprehensive contract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Risk Scoring Scale (0-100)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19456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(1-20)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Well-balanced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645920"/>
            <a:ext cx="2194560" cy="7315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Medium (21-40)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Minor concerns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645920"/>
            <a:ext cx="219456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(41-70)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Significant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219456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Critical (71-100)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Immediate action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What RiskRadar Analyzes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⚠️ Risky Clauses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Identifies unfavorable terms like</a:t>
            </a:r>
            <a:br/>
            <a:r>
              <a:t>unlimited liability, auto-renewal traps,</a:t>
            </a:r>
            <a:br/>
            <a:r>
              <a:t>one-sided indemnification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10896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📋 Compliance Issues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Checks against GDPR, CCPA, SOX,</a:t>
            </a:r>
            <a:br/>
            <a:r>
              <a:t>industry regulations, and</a:t>
            </a:r>
            <a:br/>
            <a:r>
              <a:t>jurisdiction conflicts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10896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🚫 Missing Protections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Flags absent standard clauses:</a:t>
            </a:r>
            <a:br/>
            <a:r>
              <a:t>force majeure, IP protection,</a:t>
            </a:r>
            <a:br/>
            <a:r>
              <a:t>limitation of liability, data protection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✅ Favorable Clauses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Highlights terms that benefit</a:t>
            </a:r>
            <a:br/>
            <a:r>
              <a:t>the reviewing party, such as</a:t>
            </a:r>
            <a:br/>
            <a:r>
              <a:t>caps, carve-outs, and protections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93776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💬 Negotiation Points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Provides prioritized suggestions</a:t>
            </a:r>
            <a:br/>
            <a:r>
              <a:t>for contract modifications with</a:t>
            </a:r>
            <a:br/>
            <a:r>
              <a:t>recommended alternative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937760"/>
            <a:ext cx="3566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📊 Executive Summary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3-5 sentence overview suitable</a:t>
            </a:r>
            <a:br/>
            <a:r>
              <a:t>for leadership briefings and</a:t>
            </a:r>
            <a:br/>
            <a:r>
              <a:t>quick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Draft Generation &amp; Clause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DraftCraft Agent + reusable clause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6 Built-in Contract Templates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737360" cy="1005840"/>
          </a:xfrm>
          <a:prstGeom prst="round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NDA</a:t>
            </a:r>
          </a:p>
          <a:p>
            <a:pPr algn="ctr">
              <a:defRPr sz="900">
                <a:solidFill>
                  <a:srgbClr val="BFDBFE"/>
                </a:solidFill>
              </a:defRPr>
            </a:pPr>
            <a:r>
              <a:t>Non-Disclosure</a:t>
            </a:r>
            <a:br/>
            <a:r>
              <a:t>Agreement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45920"/>
            <a:ext cx="1737360" cy="10058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MSA</a:t>
            </a:r>
          </a:p>
          <a:p>
            <a:pPr algn="ctr">
              <a:defRPr sz="900">
                <a:solidFill>
                  <a:srgbClr val="BFDBFE"/>
                </a:solidFill>
              </a:defRPr>
            </a:pPr>
            <a:r>
              <a:t>Master Service</a:t>
            </a:r>
            <a:br/>
            <a:r>
              <a:t>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1737360" cy="1005840"/>
          </a:xfrm>
          <a:prstGeom prst="round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SOW</a:t>
            </a:r>
          </a:p>
          <a:p>
            <a:pPr algn="ctr">
              <a:defRPr sz="900">
                <a:solidFill>
                  <a:srgbClr val="BFDBFE"/>
                </a:solidFill>
              </a:defRPr>
            </a:pPr>
            <a:r>
              <a:t>Statement</a:t>
            </a:r>
            <a:br/>
            <a:r>
              <a:t>of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1737360" cy="10058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Employment</a:t>
            </a:r>
          </a:p>
          <a:p>
            <a:pPr algn="ctr">
              <a:defRPr sz="900">
                <a:solidFill>
                  <a:srgbClr val="BFDBFE"/>
                </a:solidFill>
              </a:defRPr>
            </a:pPr>
            <a:r>
              <a:t>Employment</a:t>
            </a:r>
            <a:br/>
            <a:r>
              <a:t>Agreement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1737360" cy="1005840"/>
          </a:xfrm>
          <a:prstGeom prst="round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Vendor</a:t>
            </a:r>
          </a:p>
          <a:p>
            <a:pPr algn="ctr">
              <a:defRPr sz="900">
                <a:solidFill>
                  <a:srgbClr val="BFDBFE"/>
                </a:solidFill>
              </a:defRPr>
            </a:pPr>
            <a:r>
              <a:t>Vendor</a:t>
            </a:r>
            <a:br/>
            <a:r>
              <a:t>Agreement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645920"/>
            <a:ext cx="1737360" cy="100584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Lease</a:t>
            </a:r>
          </a:p>
          <a:p>
            <a:pPr algn="ctr">
              <a:defRPr sz="900">
                <a:solidFill>
                  <a:srgbClr val="BFDBFE"/>
                </a:solidFill>
              </a:defRPr>
            </a:pPr>
            <a:r>
              <a:t>Lease</a:t>
            </a:r>
            <a:br/>
            <a:r>
              <a:t>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AI-Powered Drafting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1.  Select contract type and fill in parameters (parties, dates, jurisdiction)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2.  Choose reusable clauses from the Clause Library to include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3.  DraftCraft generates a complete, legally structured draft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4.  Review, edit inline, and request AI-powered refinements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5.  Export as PDF or DOCX, or save to the contract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📚 Clause Library (20 Categories)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Termination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Indemnification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Limitation of Liability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Confidentiality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Force Majeure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Intellectual Property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Non-Compete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Data Protection / GDPR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Payment Terms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Warranty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Dispute Resolution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Governing Law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Insurance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Compliance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Severability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Enterprise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Authentication, audit trail, email alerts, and bulk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👥 Multi-User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3 roles: Admin, Analyst, Viewer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bcrypt-hashed passwords with cookie sessions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Admin can add/remove users and manage roles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Viewers can browse; Analysts can upload and analyze; Admins have full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📋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Complete Activity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Tracks 16 action types across the system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Who uploaded, analyzed, drafted, compared, deleted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Per-contract activity history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Exportable audit logs for compliance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📧 Email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Proactive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SMTP/TLS email delivery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Branded HTML emails with Infosys Cobalt styling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Configurable alert window (7-90 days before expiry)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High-risk contract alerts with score and top risks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486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📦 Bulk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Batch Processing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91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Upload multiple files simultaneously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Automatic AI extraction per file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Batch risk scoring across all uploaded contracts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 OCR fallback for scanned documents in batch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Multiple deployment options for every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566160" cy="914400"/>
          </a:xfrm>
          <a:prstGeom prst="round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Streamlit Cloud</a:t>
            </a:r>
          </a:p>
          <a:p>
            <a:pPr>
              <a:defRPr sz="1000">
                <a:solidFill>
                  <a:srgbClr val="BFDBFE"/>
                </a:solidFill>
              </a:defRPr>
            </a:pPr>
            <a:r>
              <a:t>Fastest path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One-click deploy from GitHub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Auto-redeploy on git push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Built-in secrets management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Free tier available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packages.txt for system deps (Tesseract)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9144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Docker / Docker Compose</a:t>
            </a:r>
          </a:p>
          <a:p>
            <a:pPr>
              <a:defRPr sz="1000">
                <a:solidFill>
                  <a:srgbClr val="BFDBFE"/>
                </a:solidFill>
              </a:defRPr>
            </a:pPr>
            <a:r>
              <a:t>Containerized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Python 3.11-slim base image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Tesseract + Poppler pre-installed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Persistent volumes for data/uploads/config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Health checks and auto-restart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Single command: docker-compose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914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AWS / Cloud Infrastructure</a:t>
            </a:r>
          </a:p>
          <a:p>
            <a:pPr>
              <a:defRPr sz="1000">
                <a:solidFill>
                  <a:srgbClr val="BFDBFE"/>
                </a:solidFill>
              </a:defRPr>
            </a:pPr>
            <a:r>
              <a:t>Enterprise-scale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ECS/Fargate or EKS for orchestration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RDS for database (replace SQLite)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S3 for contract file storage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ALB + Route 53 for DNS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▸  CloudWatch for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Modern, proven technologies for reliability and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Streamlit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Interactive web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Plotly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Rich interactive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71799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HTML/CSS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Custom Cobalt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OpenAI GPT-4o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Primary LLM for all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3172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GPT-4o-mini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Fast model for summaries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71799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JSON mode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Structured AI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Tesseract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Open-source OCR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3172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pdf2image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PDF to image conversion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971799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Pillow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Image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3484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Python 3.11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Core runtime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7492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SQLite + WAL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Embedded 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714999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bcrypt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Password hashing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43484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fpdf2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PDF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07492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python-docx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DOCX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5714999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openpyxl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Excel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CC3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43484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Docker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Containerization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074920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GitHub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Source control + CI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5714999"/>
            <a:ext cx="3474720" cy="548640"/>
          </a:xfrm>
          <a:prstGeom prst="roundRect">
            <a:avLst/>
          </a:prstGeom>
          <a:solidFill>
            <a:srgbClr val="F0F5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Streamlit Cloud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Managed hosting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Measurable value across the contract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CC3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Faster</a:t>
            </a:r>
            <a:br/>
            <a:r>
              <a:t>Contract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From weeks to minutes</a:t>
            </a:r>
            <a:br/>
            <a:r>
              <a:t>with AI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CC3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Risk Detection</a:t>
            </a:r>
            <a:br/>
            <a:r>
              <a:t>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AI catches risks that</a:t>
            </a:r>
            <a:br/>
            <a:r>
              <a:t>manual review misses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CC3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Faster Draft</a:t>
            </a:r>
            <a:br/>
            <a:r>
              <a:t>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Templates + AI = instant</a:t>
            </a:r>
            <a:br/>
            <a:r>
              <a:t>professional contracts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6517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7CC3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Audit</a:t>
            </a:r>
            <a:br/>
            <a:r>
              <a:t>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Every action tracked</a:t>
            </a:r>
            <a:br/>
            <a:r>
              <a:t>and exportable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Key Value Drivers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Cost Reduction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Eliminate manual review bottlenecks.</a:t>
            </a:r>
            <a:br/>
            <a:r>
              <a:t>Reduce outside counsel dependency</a:t>
            </a:r>
            <a:br/>
            <a:r>
              <a:t>for routine contract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38912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Risk Mitigation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Proactively identify risky clauses</a:t>
            </a:r>
            <a:br/>
            <a:r>
              <a:t>before signing. Catch compliance</a:t>
            </a:r>
            <a:br/>
            <a:r>
              <a:t>gaps that lead to penalties.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8912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Operational Efficiency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Centralized repository with search.</a:t>
            </a:r>
            <a:br/>
            <a:r>
              <a:t>Automated expiry alerts prevent</a:t>
            </a:r>
            <a:br/>
            <a:r>
              <a:t>missed renewal deadlines.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389120"/>
            <a:ext cx="2651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7CC3"/>
                </a:solidFill>
                <a:latin typeface="Calibri"/>
              </a:defRPr>
            </a:pPr>
            <a:r>
              <a:t>Decision Speed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Real-time dashboards give leadership</a:t>
            </a:r>
            <a:br/>
            <a:r>
              <a:t>instant visibility into portfolio risk,</a:t>
            </a:r>
            <a:br/>
            <a:r>
              <a:t>status, and contract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Continuous innovation and enterprise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566160" cy="822960"/>
          </a:xfrm>
          <a:prstGeom prst="round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1 — Current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Q1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4 AI agents (ClauseScout, DraftCraft, RiskRadar, DiffLens)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6 contract templates + Clause Library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Multi-user auth + Audit Trail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OCR + Bulk Upload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Email alerts +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8229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2 — Next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Q2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Microsoft 365 / SharePoint integration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Advanced analytics with trend reporting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Multi-language contract support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API endpoints for system integration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Custom template 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66160" cy="8229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3 — Future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Q3-Q4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Enterprise SSO (SAML / OIDC)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PostgreSQL / cloud database backend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S3 / Azure Blob for file storage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Workflow automation (approval chains)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▸  AI-powered contract negotiation assistant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1371600" cy="54864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Calibri"/>
              </a:defRPr>
            </a:pPr>
            <a:r>
              <a:t>Infosys 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AI Contract Lifecycle Management — Transforming how enterprises</a:t>
            </a:r>
            <a:br/>
            <a:r>
              <a:t>manage, analyze, and optimize their commercial contracts.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contractmgmt.streamlit.app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Source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github.com/ajittgosavii/contractmgmt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Powered by OpenAI GPT-4o  |  Streamlit  |  Infosys Cobalt Cloud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